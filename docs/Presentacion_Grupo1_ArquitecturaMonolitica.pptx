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2011680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50292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MONOLÍTICA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3774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Arquitecturales de Software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834640"/>
            <a:ext cx="5029200" cy="36576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 |  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I  |  Invenio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383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Zamora   ·   Alejandro Luna   ·   César Ubau   ·   Saúl Ramírez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Darin Mauricio Gamboa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274320"/>
            <a:ext cx="1463040" cy="1463040"/>
          </a:xfrm>
          <a:prstGeom prst="ellipse">
            <a:avLst/>
          </a:prstGeom>
          <a:solidFill>
            <a:srgbClr val="3B9F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0" y="2743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09728" cy="4137660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88720"/>
            <a:ext cx="475488" cy="475488"/>
          </a:xfrm>
          <a:prstGeom prst="rect">
            <a:avLst/>
          </a:prstGeom>
          <a:solidFill>
            <a:srgbClr val="3B9F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Conceptos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892808"/>
            <a:ext cx="475488" cy="475488"/>
          </a:xfrm>
          <a:prstGeom prst="rect">
            <a:avLst/>
          </a:prstGeom>
          <a:solidFill>
            <a:srgbClr val="3B9F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8928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385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596896"/>
            <a:ext cx="475488" cy="475488"/>
          </a:xfrm>
          <a:prstGeom prst="rect">
            <a:avLst/>
          </a:prstGeom>
          <a:solidFill>
            <a:srgbClr val="3B9F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596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64261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del Sistema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300984"/>
            <a:ext cx="475488" cy="475488"/>
          </a:xfrm>
          <a:prstGeom prst="rect">
            <a:avLst/>
          </a:prstGeom>
          <a:solidFill>
            <a:srgbClr val="3B9F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3009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3467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Comunicación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4005072"/>
            <a:ext cx="475488" cy="475488"/>
          </a:xfrm>
          <a:prstGeom prst="rect">
            <a:avLst/>
          </a:prstGeom>
          <a:solidFill>
            <a:srgbClr val="3B9F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4005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0507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75488" cy="47548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188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1234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892808"/>
            <a:ext cx="475488" cy="47548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18928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19385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Patrones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2596896"/>
            <a:ext cx="475488" cy="47548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2596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6426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en Java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300984"/>
            <a:ext cx="475488" cy="47548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33009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334670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UML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4005072"/>
            <a:ext cx="475488" cy="47548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4005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40507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 · Conclusión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Arquitectura Monolítica?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0515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8138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 la aplicación se desarrolla, despliega y ejecuta como una unidad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e indivisible dentro de un mismo proceso del sistema operativo."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269748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31720"/>
            <a:ext cx="269748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2395728"/>
            <a:ext cx="685800" cy="685800"/>
          </a:xfrm>
          <a:prstGeom prst="ellipse">
            <a:avLst/>
          </a:prstGeom>
          <a:solidFill>
            <a:srgbClr val="3B9FD4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23957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Deployment Unit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7588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artefacto JAR/WAR que contiene todo el sistema.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72968" y="2331720"/>
            <a:ext cx="269748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2331720"/>
            <a:ext cx="269748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16" name="Shape 14"/>
          <p:cNvSpPr/>
          <p:nvPr/>
        </p:nvSpPr>
        <p:spPr>
          <a:xfrm>
            <a:off x="4178808" y="2395728"/>
            <a:ext cx="685800" cy="685800"/>
          </a:xfrm>
          <a:prstGeom prst="ellipse">
            <a:avLst/>
          </a:prstGeom>
          <a:solidFill>
            <a:srgbClr val="3B9FD4"/>
          </a:solidFill>
          <a:ln/>
        </p:spPr>
      </p:sp>
      <p:sp>
        <p:nvSpPr>
          <p:cNvPr id="17" name="Text 15"/>
          <p:cNvSpPr/>
          <p:nvPr/>
        </p:nvSpPr>
        <p:spPr>
          <a:xfrm>
            <a:off x="4178808" y="23957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10128" y="31821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Process Space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367588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módulos comparten memoria. Llamadas en nanosegundos.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25896" y="2331720"/>
            <a:ext cx="269748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25896" y="2331720"/>
            <a:ext cx="269748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22" name="Shape 20"/>
          <p:cNvSpPr/>
          <p:nvPr/>
        </p:nvSpPr>
        <p:spPr>
          <a:xfrm>
            <a:off x="7031736" y="2395728"/>
            <a:ext cx="685800" cy="685800"/>
          </a:xfrm>
          <a:prstGeom prst="ellipse">
            <a:avLst/>
          </a:prstGeom>
          <a:solidFill>
            <a:srgbClr val="3B9FD4"/>
          </a:solidFill>
          <a:ln/>
        </p:spPr>
      </p:sp>
      <p:sp>
        <p:nvSpPr>
          <p:cNvPr id="23" name="Text 21"/>
          <p:cNvSpPr/>
          <p:nvPr/>
        </p:nvSpPr>
        <p:spPr>
          <a:xfrm>
            <a:off x="7031736" y="23957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63056" y="31821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Codebase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63056" y="367588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repositorio, una compilación, un artefacto final.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2296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487168"/>
            <a:ext cx="384048" cy="384048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05840"/>
            <a:ext cx="1920240" cy="141732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789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1950–1980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3898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Orígenes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719072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modelo posible. FORTRAN, COBOL. Mainframes con recursos limitados.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2487168"/>
            <a:ext cx="384048" cy="384048"/>
          </a:xfrm>
          <a:prstGeom prst="ellipse">
            <a:avLst/>
          </a:prstGeom>
          <a:solidFill>
            <a:srgbClr val="1E5F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3108960"/>
            <a:ext cx="1920240" cy="1417320"/>
          </a:xfrm>
          <a:prstGeom prst="rect">
            <a:avLst/>
          </a:prstGeom>
          <a:solidFill>
            <a:srgbClr val="1E5F8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3182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1980–2000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4930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Maduración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42032" y="3822192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OOP. Organización en capas. Modularidad interna.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0" y="2487168"/>
            <a:ext cx="384048" cy="384048"/>
          </a:xfrm>
          <a:prstGeom prst="ellipse">
            <a:avLst/>
          </a:prstGeom>
          <a:solidFill>
            <a:srgbClr val="3B9FD4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1005840"/>
            <a:ext cx="1920240" cy="1417320"/>
          </a:xfrm>
          <a:prstGeom prst="rect">
            <a:avLst/>
          </a:prstGeom>
          <a:solidFill>
            <a:srgbClr val="3B9F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10789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2000–2015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13898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45152" y="1719072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 los microservicios. El monolito es visto como "legado".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06640" y="248716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6675120" y="3108960"/>
            <a:ext cx="1920240" cy="14173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0" y="3182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2015–Hoy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34930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Reivindicación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48272" y="3822192"/>
            <a:ext cx="1773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"Monolith First" (Fowler). Amazon Prime Video ahorra 90% volviendo al monolito.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del Sistema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1005840"/>
            <a:ext cx="6400800" cy="777240"/>
          </a:xfrm>
          <a:prstGeom prst="rect">
            <a:avLst/>
          </a:prstGeom>
          <a:solidFill>
            <a:srgbClr val="3B9F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10515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TaskApp.java  /  TaskMonolith.java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4081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Presentación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0" y="111556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1920240"/>
            <a:ext cx="6400800" cy="777240"/>
          </a:xfrm>
          <a:prstGeom prst="rect">
            <a:avLst/>
          </a:prstGeom>
          <a:solidFill>
            <a:srgbClr val="1E5F8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08760" y="1965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TaskService.java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3225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Lógica de Negocio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202996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71600" y="2834640"/>
            <a:ext cx="6400800" cy="77724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08760" y="28803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TaskRepository.java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2369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Acceso a Datos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0" y="294436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71600" y="3749040"/>
            <a:ext cx="6400800" cy="777240"/>
          </a:xfrm>
          <a:prstGeom prst="rect">
            <a:avLst/>
          </a:prstGeom>
          <a:solidFill>
            <a:srgbClr val="3645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08760" y="37947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Task.java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1513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Dominio (compartido)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3760" y="385876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74320" y="1005840"/>
            <a:ext cx="960120" cy="352044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286000"/>
            <a:ext cx="960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Llamadas en memoria — sin red — nanosegundos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Comunicación Interno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 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566160" cy="47548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5544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llamada directa en RAM (~10ns)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3566160" cy="475488"/>
          </a:xfrm>
          <a:prstGeom prst="rect">
            <a:avLst/>
          </a:prstGeom>
          <a:solidFill>
            <a:srgbClr val="1E5F8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21284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68833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llamada directa en RAM (~10ns)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3566160" cy="47548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87121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TaskService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34670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llamada directa en RAM (~10ns)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3566160" cy="475488"/>
          </a:xfrm>
          <a:prstGeom prst="rect">
            <a:avLst/>
          </a:prstGeom>
          <a:solidFill>
            <a:srgbClr val="1E5F8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52958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TaskRepository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llamada directa en RAM (~10ns)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187952"/>
            <a:ext cx="3566160" cy="47548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18795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(RAM)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960120"/>
            <a:ext cx="393192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 ✗ (comparación)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1554480"/>
            <a:ext cx="3566160" cy="475488"/>
          </a:xfrm>
          <a:prstGeom prst="rect">
            <a:avLst/>
          </a:prstGeom>
          <a:solidFill>
            <a:srgbClr val="CBD5E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0" y="15544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20299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HTTP / REST (~5–50ms, puede fallar)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2212848"/>
            <a:ext cx="3566160" cy="475488"/>
          </a:xfrm>
          <a:prstGeom prst="rect">
            <a:avLst/>
          </a:prstGeom>
          <a:solidFill>
            <a:srgbClr val="CBD5E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20640" y="221284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268833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HTTP / REST (~5–50ms, puede fallar)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20640" y="2871216"/>
            <a:ext cx="3566160" cy="475488"/>
          </a:xfrm>
          <a:prstGeom prst="rect">
            <a:avLst/>
          </a:prstGeom>
          <a:solidFill>
            <a:srgbClr val="CBD5E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20640" y="287121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Service :8081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334670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HTTP / REST (~5–50ms, puede fallar)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20640" y="3529584"/>
            <a:ext cx="3566160" cy="475488"/>
          </a:xfrm>
          <a:prstGeom prst="rect">
            <a:avLst/>
          </a:prstGeom>
          <a:solidFill>
            <a:srgbClr val="CBD5E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120640" y="352958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Service :8082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20640" y="40050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HTTP / REST (~5–50ms, puede fallar)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20640" y="4187952"/>
            <a:ext cx="3566160" cy="475488"/>
          </a:xfrm>
          <a:prstGeom prst="rect">
            <a:avLst/>
          </a:prstGeom>
          <a:solidFill>
            <a:srgbClr val="CBD5E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120640" y="418795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0" y="960120"/>
            <a:ext cx="0" cy="3931920"/>
          </a:xfrm>
          <a:prstGeom prst="line">
            <a:avLst/>
          </a:prstGeom>
          <a:noFill/>
          <a:ln w="25400">
            <a:solidFill>
              <a:srgbClr val="3B9FD4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de la Arquitectura Monolítica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en memoria (~10ns) vs HTTP entre microservicios (~5–50ms). Sin serialización.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0058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0058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10128" y="1600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ACID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Atomicidad nativa entre todos los módulos sin protocolos distribuidos complejos.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10058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0058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54496" y="1600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 de desarrollo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54496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repositorio, un solo despliegue. Ideal para equipos pequeños y MVPs.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2608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65760" y="3520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sencillo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stack trace, un solo log. Toda la ejecución en un proceso visible.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18688" y="292608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292608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218688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10128" y="3520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costo operacional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0128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orquestación de contenedores, sin service mesh, sin bases de datos por servicio.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63056" y="292608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292608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163056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54496" y="3520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integradas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54496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integración cargan todas las capas en el mismo proceso de prueba.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 y Limitaciones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91440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Escalabilidad rígida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3533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un módulo implica replicar TODO el sistema. Ineficiente cuando los módulos tienen cargas muy diferentes.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810512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10512"/>
            <a:ext cx="91440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562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Ciclos de despliegue lentos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15798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cambio pequeño requiere recompilar y redesplegar el artefacto completo.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615184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15184"/>
            <a:ext cx="91440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609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Lock-in tecnológico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96265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sistema usa un único lenguaje y stack. No se puede usar Python para ML y Java para el core.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419856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419856"/>
            <a:ext cx="91440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655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Fallo total del sistema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7673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bug crítico en cualquier módulo puede derribar toda la aplicación.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224528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224528"/>
            <a:ext cx="91440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70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Complejidad creciente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disciplina arquitectónica, el monolito evoluciona hacia el antipatrón 'Big Ball of Mud'.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Reales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88920" cy="38404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972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240280" cy="43891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860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 visitas/mes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834640"/>
            <a:ext cx="25694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los sitios más visitados del mundo funciona con un monolito ASP.NET en muy pocos servidores. Prueba de que el rendimiento no exige microservicios.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18688" y="1005840"/>
            <a:ext cx="2788920" cy="3840480"/>
          </a:xfrm>
          <a:prstGeom prst="rect">
            <a:avLst/>
          </a:prstGeom>
          <a:solidFill>
            <a:srgbClr val="1E5F8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18688" y="10972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10128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93008" y="2286000"/>
            <a:ext cx="2240280" cy="43891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93008" y="22860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 Pattern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28416" y="2834640"/>
            <a:ext cx="25694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Comenzó como monolito Ruby on Rails. Ha migrado módulos gradualmente usando el patrón Strangler Fig — sin reescritura total.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63056" y="1005840"/>
            <a:ext cx="2788920" cy="38404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63056" y="10972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54496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Prime Video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37376" y="2286000"/>
            <a:ext cx="2240280" cy="43891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37376" y="22860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90% costo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72784" y="2834640"/>
            <a:ext cx="25694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2023 migró su sistema de monitoreo DE microservicios A un monolito y redujo costos un 90%. El caso más citado de la industria.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con Otros Patrones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8686800" cy="3977640"/>
        </p:xfrm>
        <a:graphic>
          <a:graphicData uri="http://schemas.openxmlformats.org/drawingml/2006/table">
            <a:tbl>
              <a:tblPr/>
              <a:tblGrid>
                <a:gridCol w="1828800"/>
                <a:gridCol w="1783080"/>
                <a:gridCol w="1783080"/>
                <a:gridCol w="1783080"/>
                <a:gridCol w="17830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Monolítico 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9F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Cliente-Servidor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MVC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 Capas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Despliegue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9FD4"/>
                          </a:solidFill>
                        </a:rPr>
                        <a:t>1 artefacto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2+ componentes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 app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 capas/servicios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Comunicación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9FD4"/>
                          </a:solidFill>
                        </a:rPr>
                        <a:t>En memoria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Red (HTTP)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Interna MVC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Interna por capas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Escalabilidad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9FD4"/>
                          </a:solidFill>
                        </a:rPr>
                        <a:t>Vertical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Horizontal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Vertical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Por capa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Complejidad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9FD4"/>
                          </a:solidFill>
                        </a:rPr>
                        <a:t>Baja inicial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Ideal para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9FD4"/>
                          </a:solidFill>
                        </a:rPr>
                        <a:t>MVP / Startup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Apps distribuidas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Apps con UI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Enterprise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Transacciones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9FD4"/>
                          </a:solidFill>
                        </a:rPr>
                        <a:t>ACID nativas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Distribuidas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ACID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ACID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Práctica — Estructura del Proyecto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9776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ESTRUCTURA DE CARPETAS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task-monolith/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src/main/java/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com/taskmonolith/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model/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Task.java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repository/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TaskRepository.java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service/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TaskService.java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TaskMonolith.java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TaskApp.java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pom.xml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05840"/>
            <a:ext cx="73152" cy="676656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424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Task.java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335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dominio — POJO puro, sin frameworks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773936"/>
            <a:ext cx="42976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773936"/>
            <a:ext cx="73152" cy="676656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8105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TaskRepository.java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Repository — abstrae la persistencia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542032"/>
            <a:ext cx="42976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542032"/>
            <a:ext cx="73152" cy="67665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5786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TaskService.java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871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— las 3 reglas centrales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310128"/>
            <a:ext cx="42976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310128"/>
            <a:ext cx="73152" cy="676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3467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TaskMonolith.java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639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 consola — demuestra las 5 fases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4078224"/>
            <a:ext cx="42976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4078224"/>
            <a:ext cx="73152" cy="67665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4114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TaskApp.java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44074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Swing — mismas capas, otra UI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— Task.java y TaskRepository.java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Task.java — Modelo de Dominio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07592"/>
            <a:ext cx="4160520" cy="3611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algn="l"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
</a:t>
            </a:r>
            <a:pPr algn="l"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Estados posibles
</a:t>
            </a:r>
            <a:pPr algn="l" indent="0" marL="0">
              <a:buNone/>
            </a:pPr>
            <a:r>
              <a:rPr lang="en-US" sz="105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enum </a:t>
            </a:r>
            <a:pPr algn="l"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PENDING, IN_PROGRESS,
             COMPLETED, CANCELLED }
</a:t>
            </a:r>
            <a:pPr algn="l"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Final = no cambia tras crearse
</a:t>
            </a:r>
            <a:pPr algn="l" indent="0" marL="0">
              <a:buNone/>
            </a:pPr>
            <a:r>
              <a:rPr lang="en-US" sz="105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</a:t>
            </a:r>
            <a:pPr algn="l"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id;
</a:t>
            </a:r>
            <a:pPr algn="l" indent="0" marL="0">
              <a:buNone/>
            </a:pPr>
            <a:r>
              <a:rPr lang="en-US" sz="105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</a:t>
            </a:r>
            <a:pPr algn="l"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status;
</a:t>
            </a:r>
            <a:pPr algn="l"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Validaciones en constructor
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(title == null || title.isBlank())
</a:t>
            </a:r>
            <a:pPr algn="l" indent="0" marL="0">
              <a:buNone/>
            </a:pPr>
            <a:r>
              <a:rPr lang="en-US" sz="105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IllegalArgumentException(...);
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this.id = UUID.randomUUID().toString();
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this.status = Status.PENDING; // siempre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TaskRepository.java — Persistencia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307592"/>
            <a:ext cx="4160520" cy="3611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algn="l"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TaskRepository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
</a:t>
            </a:r>
            <a:pPr algn="l"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HashMap simula base de datos
</a:t>
            </a:r>
            <a:pPr algn="l" indent="0" marL="0">
              <a:buNone/>
            </a:pPr>
            <a:r>
              <a:rPr lang="en-US" sz="105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</a:t>
            </a:r>
            <a:pPr algn="l"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&lt;String, Task&gt;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store = new 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&lt;&gt;;
</a:t>
            </a:r>
            <a:pPr algn="l"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Guardar o actualizar tarea
</a:t>
            </a:r>
            <a:pPr algn="l" indent="0" marL="0">
              <a:buNone/>
            </a:pPr>
            <a:r>
              <a:rPr lang="en-US" sz="105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save(Task task) {
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store.put(task.getId(), task);
  }
</a:t>
            </a:r>
            <a:pPr algn="l"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Optional: evita NullPointerException
</a:t>
            </a:r>
            <a:pPr algn="l" indent="0" marL="0">
              <a:buNone/>
            </a:pPr>
            <a:r>
              <a:rPr lang="en-US" sz="105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pPr algn="l"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&lt;Task&gt; findById(
    String id) {
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Optional.ofNullable(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store.get(id));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— TaskService.java (Reglas de Negocio)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303520" cy="39776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24128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Constructor Injection — D de SOLID
</a:t>
            </a:r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TaskService(TaskRepository repo) {
  this.repository = repo;
}
</a:t>
            </a:r>
            <a:pPr algn="l" indent="0" marL="0">
              <a:buNone/>
            </a:pPr>
            <a:r>
              <a:rPr lang="en-US" sz="1100" dirty="0">
                <a:solidFill>
                  <a:srgbClr val="3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Task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updateStatus(String id, Status nuevo) {
</a:t>
            </a:r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// Regla 1: CANCELADA no se modifica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(task.getStatus() == </a:t>
            </a:r>
            <a:pPr algn="l"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CANCELLED)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IllegalStateException(
      "No se puede modificar CANCELADA");
</a:t>
            </a:r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Regla 2: COMPLETED no vuelve atrás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(task.getStatus() == </a:t>
            </a:r>
            <a:pPr algn="l"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&amp;&amp; nuevo == PENDING)
    throw new IllegalStateException(...);
</a:t>
            </a:r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Llamada en memoria — NO es HTTP
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repository.save(task); // nanosegundos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960120"/>
            <a:ext cx="310896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0" y="10058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REGLAS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NEGOCIO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737360"/>
            <a:ext cx="457200" cy="457200"/>
          </a:xfrm>
          <a:prstGeom prst="ellipse">
            <a:avLst/>
          </a:prstGeom>
          <a:solidFill>
            <a:srgbClr val="3B9FD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7556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CANCELADA → inmutable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08483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tarea cancelada no se puede modificar bajo ninguna circunstancia.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788920"/>
            <a:ext cx="457200" cy="457200"/>
          </a:xfrm>
          <a:prstGeom prst="ellipse">
            <a:avLst/>
          </a:prstGeom>
          <a:solidFill>
            <a:srgbClr val="3B9FD4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80720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 → no retrocede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1363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tarea completada no puede volver a PENDING o IN_PROGRESS.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3840480"/>
            <a:ext cx="457200" cy="457200"/>
          </a:xfrm>
          <a:prstGeom prst="ellipse">
            <a:avLst/>
          </a:prstGeom>
          <a:solidFill>
            <a:srgbClr val="3B9FD4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385876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COMPLETADAS se eliminan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1879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borrar una tarea que aún está en progreso o pendiente.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Arquitectónico — UML de Componentes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914400"/>
            <a:ext cx="6400800" cy="3931920"/>
          </a:xfrm>
          <a:prstGeom prst="rect">
            <a:avLst/>
          </a:prstGeom>
          <a:solidFill>
            <a:srgbClr val="EFF6FF"/>
          </a:solidFill>
          <a:ln w="25400">
            <a:solidFill>
              <a:srgbClr val="3B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63040" y="96012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task-monolith.jar  —  Single Deployment Unit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4023360" cy="777240"/>
          </a:xfrm>
          <a:prstGeom prst="rect">
            <a:avLst/>
          </a:prstGeom>
          <a:solidFill>
            <a:srgbClr val="3B9F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4173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TaskApp / TaskMonolith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(Presentation Layer)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377440"/>
            <a:ext cx="4023360" cy="777240"/>
          </a:xfrm>
          <a:prstGeom prst="rect">
            <a:avLst/>
          </a:prstGeom>
          <a:solidFill>
            <a:srgbClr val="1E5F8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23774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 Logic Layer)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3337560"/>
            <a:ext cx="4023360" cy="77724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3337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TaskRepository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Access Layer)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2331720"/>
            <a:ext cx="1737360" cy="1783080"/>
          </a:xfrm>
          <a:prstGeom prst="rect">
            <a:avLst/>
          </a:prstGeom>
          <a:solidFill>
            <a:srgbClr val="3645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2331720"/>
            <a:ext cx="1737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Task.java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(Domain Model)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21284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(in-process)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17520" y="317296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(in-process)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github.com/HumanoidCat/task-monolith  |  PlantUML disponible en /docs del repositorio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y Cuándo NO Usar?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CUÁNDO USAR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819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nuevo / MVP — dominio aún por explorar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075688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75688"/>
            <a:ext cx="73152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1488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pequeño (2–8 ingenieros)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642616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42616"/>
            <a:ext cx="73152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7157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de infraestructura limitado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209544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09544"/>
            <a:ext cx="73152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2826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transaccional crítica (sistemas financieros)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776472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76472"/>
            <a:ext cx="73152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8496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 negocio acotado y bien comprendido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434340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4343400"/>
            <a:ext cx="73152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44165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carga uniformes entre módulos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960120"/>
            <a:ext cx="4114800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96012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CUÁNDO NO USAR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150876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508760"/>
            <a:ext cx="73152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4956048" y="15819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masiva con cargas muy heterogéneas por módulo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2075688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075688"/>
            <a:ext cx="73152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4956048" y="21488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equipos con autonomía de despliegue independiente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2642616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642616"/>
            <a:ext cx="73152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4956048" y="27157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 diferenciada por componente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54880" y="3209544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209544"/>
            <a:ext cx="73152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4956048" y="32826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diversidad tecnológica (Python + Go + Java)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54880" y="3776472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776472"/>
            <a:ext cx="73152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4956048" y="38496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Velocidades de evolución muy diferentes por módulo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96012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empieces con microservicios. Comienza con un monolito bien diseñado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extrae servicios sólo cuando sea necesario." — Martin Fowler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103120"/>
            <a:ext cx="411480" cy="548640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1031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762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monolito es la decisión arquitectónica óptima para proyectos nuevos, equipos pequeños y dominios acotados.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880360"/>
            <a:ext cx="411480" cy="548640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8803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95351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empírica (Amazon Prime Video −90% costos) desafía la narrativa de que microservicios = modernidad.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657600"/>
            <a:ext cx="411480" cy="548640"/>
          </a:xfrm>
          <a:prstGeom prst="rect">
            <a:avLst/>
          </a:prstGeom>
          <a:solidFill>
            <a:srgbClr val="3B9FD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65760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37307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monolito bien diseñado es modular, testeable y extensible — la diferencia es disciplina de diseño, no tecnología.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572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github.com/HumanoidCat/task-monolith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Monolítica - Grupo 1</dc:title>
  <dc:subject>PptxGenJS Presentation</dc:subject>
  <dc:creator>Grupo 1 - Invenio</dc:creator>
  <cp:lastModifiedBy>Grupo 1 - Invenio</cp:lastModifiedBy>
  <cp:revision>1</cp:revision>
  <dcterms:created xsi:type="dcterms:W3CDTF">2026-02-22T03:48:44Z</dcterms:created>
  <dcterms:modified xsi:type="dcterms:W3CDTF">2026-02-22T03:48:44Z</dcterms:modified>
</cp:coreProperties>
</file>